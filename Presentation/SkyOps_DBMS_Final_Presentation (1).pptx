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description, ~1 min: title, problem, objectives, scope, users.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top to bottom: infrastructure, reservation, operations. Booking to Cancellation, Fare to Booking/Payment.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Booking as the central entity, then flight side, then post-booking entities.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Questions, ~2 min. Any member may be asked about any 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B1F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737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</a:rPr>
              <a:t>SkyOps · Airline Reservation &amp; Flight Operations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7375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B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7375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B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image" Target="../media/image-9-4.jpg"/><Relationship Id="rId5" Type="http://schemas.openxmlformats.org/officeDocument/2006/relationships/image" Target="../media/image-9-5.jp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F80E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640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7FB2F0"/>
                </a:solidFill>
              </a:rPr>
              <a:t>SkyOps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Airline Reservation &amp; Flight Operations Management System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432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6EA"/>
                </a:solidFill>
              </a:rPr>
              <a:t>Design and Implementation of a Relational Database Management System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1554480" cy="329184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84048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MySQL + Web UI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0" y="640080"/>
            <a:ext cx="13716" cy="3566160"/>
          </a:xfrm>
          <a:prstGeom prst="rect">
            <a:avLst/>
          </a:prstGeom>
          <a:solidFill>
            <a:srgbClr val="3A5A93"/>
          </a:solidFill>
          <a:ln w="12700">
            <a:solidFill>
              <a:srgbClr val="3A5A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94960" y="6400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7FB2F0"/>
                </a:solidFill>
              </a:rPr>
              <a:t>TEAM MEMBERS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1005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Rathneshvaran.I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130759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25WU0101105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Lohit Sitharth.V.O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199339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25WU0101066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2377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Sanjay.K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267919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25WU0101122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394960" y="32461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spc="200" kern="0" dirty="0">
                <a:solidFill>
                  <a:srgbClr val="7FB2F0"/>
                </a:solidFill>
              </a:rPr>
              <a:t>CLASS 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</a:rPr>
              <a:t>CSE RHINOS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spc="200" kern="0" dirty="0">
                <a:solidFill>
                  <a:srgbClr val="7FB2F0"/>
                </a:solidFill>
              </a:rPr>
              <a:t>COURSE 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</a:rPr>
              <a:t>DBMS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554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F80ED"/>
                </a:solidFill>
              </a:rPr>
              <a:t>A · PROBLEM DESCRIPTION · ~1 MIN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44"/>
                </a:solidFill>
              </a:rPr>
              <a:t>Why This System?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777240"/>
          </a:xfrm>
          <a:prstGeom prst="rect">
            <a:avLst/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64008" cy="77724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96012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80ED"/>
                </a:solidFill>
              </a:rPr>
              <a:t>The problem  </a:t>
            </a:r>
            <a:pPr indent="0" marL="0">
              <a:buNone/>
            </a:pPr>
            <a:r>
              <a:rPr lang="en-US" sz="1250" dirty="0">
                <a:solidFill>
                  <a:srgbClr val="0B1F44"/>
                </a:solidFill>
              </a:rPr>
              <a:t>Airline operations involve many connected records. Without a structured database, duplicated or inconsistent data leads to booking conflicts, incorrect manifests, invalid check-ins and unreliable reports.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20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85"/>
                </a:solidFill>
              </a:rPr>
              <a:t>OBJECTIVES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0ED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2402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F44"/>
                </a:solidFill>
              </a:rPr>
              <a:t>Design a normalized relational database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0ED"/>
                </a:solidFill>
              </a:rPr>
              <a:t>02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069080" y="22402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F44"/>
                </a:solidFill>
              </a:rPr>
              <a:t>Maintain data integrity across operations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715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0ED"/>
                </a:solidFill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271576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F44"/>
                </a:solidFill>
              </a:rPr>
              <a:t>Prevent duplicate / invalid bookings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2715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0ED"/>
                </a:solidFill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069080" y="271576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F44"/>
                </a:solidFill>
              </a:rPr>
              <a:t>Support flight search and reservation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191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0ED"/>
                </a:solidFill>
              </a:rPr>
              <a:t>05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319125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F44"/>
                </a:solidFill>
              </a:rPr>
              <a:t>Manage passengers, tickets, check-ins, baggage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3191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0ED"/>
                </a:solidFill>
              </a:rPr>
              <a:t>06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069080" y="319125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F44"/>
                </a:solidFill>
              </a:rPr>
              <a:t>Process cancellations and payments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666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0ED"/>
                </a:solidFill>
              </a:rPr>
              <a:t>07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366674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F44"/>
                </a:solidFill>
              </a:rPr>
              <a:t>Generate operational reports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657600" y="3666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0ED"/>
                </a:solidFill>
              </a:rPr>
              <a:t>08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069080" y="366674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F44"/>
                </a:solidFill>
              </a:rPr>
              <a:t>Connect the database to a working frontend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995160" y="1920240"/>
            <a:ext cx="13716" cy="2240280"/>
          </a:xfrm>
          <a:prstGeom prst="rect">
            <a:avLst/>
          </a:prstGeom>
          <a:solidFill>
            <a:srgbClr val="C9D6EA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23760" y="19202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85"/>
                </a:solidFill>
              </a:rPr>
              <a:t>INTENDED USERS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223760" y="2331720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24928" y="22585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F44"/>
                </a:solidFill>
              </a:rPr>
              <a:t>Airline administrators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223760" y="2743200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24928" y="2670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F44"/>
                </a:solidFill>
              </a:rPr>
              <a:t>Reservation staff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223760" y="3154680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24928" y="3081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F44"/>
                </a:solidFill>
              </a:rPr>
              <a:t>Check-in staff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223760" y="3566160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424928" y="34930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F44"/>
                </a:solidFill>
              </a:rPr>
              <a:t>Operations staff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223760" y="3977640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24928" y="3904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F44"/>
                </a:solidFill>
              </a:rPr>
              <a:t>Passengers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</a:rPr>
              <a:t>Scope: airports, routes, aircraft, seats, flights, passengers, bookings, tickets, check-in, baggage, cancellations, fares, payments.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7375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B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554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F80ED"/>
                </a:solidFill>
              </a:rPr>
              <a:t>A · SCOPE &amp;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44"/>
                </a:solidFill>
              </a:rPr>
              <a:t>From Reservation to Flight Operation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1005840"/>
          </a:xfrm>
          <a:prstGeom prst="rect">
            <a:avLst/>
          </a:prstGeom>
          <a:solidFill>
            <a:srgbClr val="F7F9FC"/>
          </a:solidFill>
          <a:ln w="9525">
            <a:solidFill>
              <a:srgbClr val="E3EA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960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A6B85"/>
                </a:solidFill>
              </a:rPr>
              <a:t>FLIGHT</a:t>
            </a:r>
            <a:endParaRPr lang="en-US" sz="950" dirty="0"/>
          </a:p>
          <a:p>
            <a:pPr indent="0" marL="0">
              <a:buNone/>
            </a:pPr>
            <a:r>
              <a:rPr lang="en-US" sz="950" b="1" spc="100" kern="0" dirty="0">
                <a:solidFill>
                  <a:srgbClr val="5A6B85"/>
                </a:solidFill>
              </a:rPr>
              <a:t>SETUP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8229600" cy="1005840"/>
          </a:xfrm>
          <a:prstGeom prst="rect">
            <a:avLst/>
          </a:prstGeom>
          <a:solidFill>
            <a:srgbClr val="F7F9FC"/>
          </a:solidFill>
          <a:ln w="9525">
            <a:solidFill>
              <a:srgbClr val="E3EA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2860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A6B85"/>
                </a:solidFill>
              </a:rPr>
              <a:t>RESERVATION</a:t>
            </a:r>
            <a:endParaRPr lang="en-US" sz="950" dirty="0"/>
          </a:p>
          <a:p>
            <a:pPr indent="0" marL="0">
              <a:buNone/>
            </a:pPr>
            <a:r>
              <a:rPr lang="en-US" sz="950" b="1" spc="100" kern="0" dirty="0">
                <a:solidFill>
                  <a:srgbClr val="5A6B85"/>
                </a:solidFill>
              </a:rPr>
              <a:t>&amp; PAYMENT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3611880"/>
            <a:ext cx="8229600" cy="1005840"/>
          </a:xfrm>
          <a:prstGeom prst="rect">
            <a:avLst/>
          </a:prstGeom>
          <a:solidFill>
            <a:srgbClr val="F7F9FC"/>
          </a:solidFill>
          <a:ln w="9525">
            <a:solidFill>
              <a:srgbClr val="E3EA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6118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A6B85"/>
                </a:solidFill>
              </a:rPr>
              <a:t>AIRPORT</a:t>
            </a:r>
            <a:endParaRPr lang="en-US" sz="950" dirty="0"/>
          </a:p>
          <a:p>
            <a:pPr indent="0" marL="0">
              <a:buNone/>
            </a:pPr>
            <a:r>
              <a:rPr lang="en-US" sz="950" b="1" spc="100" kern="0" dirty="0">
                <a:solidFill>
                  <a:srgbClr val="5A6B85"/>
                </a:solidFill>
              </a:rPr>
              <a:t>OPERATIONS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691640" y="1216152"/>
            <a:ext cx="1097280" cy="502920"/>
          </a:xfrm>
          <a:prstGeom prst="rect">
            <a:avLst/>
          </a:prstGeom>
          <a:solidFill>
            <a:srgbClr val="0B1F44"/>
          </a:solidFill>
          <a:ln w="12700">
            <a:solidFill>
              <a:srgbClr val="0B1F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691640" y="121615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Airport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63240" y="1216152"/>
            <a:ext cx="1097280" cy="502920"/>
          </a:xfrm>
          <a:prstGeom prst="rect">
            <a:avLst/>
          </a:prstGeom>
          <a:solidFill>
            <a:srgbClr val="0B1F44"/>
          </a:solidFill>
          <a:ln w="12700">
            <a:solidFill>
              <a:srgbClr val="0B1F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63240" y="121615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Route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34840" y="1216152"/>
            <a:ext cx="1097280" cy="502920"/>
          </a:xfrm>
          <a:prstGeom prst="rect">
            <a:avLst/>
          </a:prstGeom>
          <a:solidFill>
            <a:srgbClr val="0B1F44"/>
          </a:solidFill>
          <a:ln w="12700">
            <a:solidFill>
              <a:srgbClr val="0B1F4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34840" y="121615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Flight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06440" y="1216152"/>
            <a:ext cx="1097280" cy="502920"/>
          </a:xfrm>
          <a:prstGeom prst="rect">
            <a:avLst/>
          </a:prstGeom>
          <a:solidFill>
            <a:srgbClr val="0B1F44"/>
          </a:solidFill>
          <a:ln w="12700">
            <a:solidFill>
              <a:srgbClr val="0B1F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06440" y="121615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Aircraft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78040" y="1216152"/>
            <a:ext cx="1097280" cy="502920"/>
          </a:xfrm>
          <a:prstGeom prst="rect">
            <a:avLst/>
          </a:prstGeom>
          <a:solidFill>
            <a:srgbClr val="0B1F44"/>
          </a:solidFill>
          <a:ln w="12700">
            <a:solidFill>
              <a:srgbClr val="0B1F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78040" y="121615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Seat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88920" y="1467612"/>
            <a:ext cx="274320" cy="0"/>
          </a:xfrm>
          <a:prstGeom prst="line">
            <a:avLst/>
          </a:prstGeom>
          <a:noFill/>
          <a:ln w="19050">
            <a:solidFill>
              <a:srgbClr val="2F80ED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160520" y="1467612"/>
            <a:ext cx="274320" cy="0"/>
          </a:xfrm>
          <a:prstGeom prst="line">
            <a:avLst/>
          </a:prstGeom>
          <a:noFill/>
          <a:ln w="19050">
            <a:solidFill>
              <a:srgbClr val="2F80ED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532120" y="1467612"/>
            <a:ext cx="274320" cy="0"/>
          </a:xfrm>
          <a:prstGeom prst="line">
            <a:avLst/>
          </a:prstGeom>
          <a:noFill/>
          <a:ln w="19050">
            <a:solidFill>
              <a:srgbClr val="2F80ED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903720" y="1467612"/>
            <a:ext cx="274320" cy="0"/>
          </a:xfrm>
          <a:prstGeom prst="line">
            <a:avLst/>
          </a:prstGeom>
          <a:noFill/>
          <a:ln w="19050">
            <a:solidFill>
              <a:srgbClr val="2F80ED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691640" y="2542032"/>
            <a:ext cx="1097280" cy="502920"/>
          </a:xfrm>
          <a:prstGeom prst="rect">
            <a:avLst/>
          </a:prstGeom>
          <a:solidFill>
            <a:srgbClr val="0B1F44"/>
          </a:solidFill>
          <a:ln w="12700">
            <a:solidFill>
              <a:srgbClr val="0B1F4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691640" y="254203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Cancellation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063240" y="2542032"/>
            <a:ext cx="1097280" cy="50292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063240" y="254203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Booking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34840" y="2542032"/>
            <a:ext cx="1097280" cy="502920"/>
          </a:xfrm>
          <a:prstGeom prst="rect">
            <a:avLst/>
          </a:prstGeom>
          <a:solidFill>
            <a:srgbClr val="0B1F44"/>
          </a:solidFill>
          <a:ln w="12700">
            <a:solidFill>
              <a:srgbClr val="0B1F4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434840" y="254203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Passenger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806440" y="2542032"/>
            <a:ext cx="1097280" cy="502920"/>
          </a:xfrm>
          <a:prstGeom prst="rect">
            <a:avLst/>
          </a:prstGeom>
          <a:solidFill>
            <a:srgbClr val="1B3A73"/>
          </a:solidFill>
          <a:ln w="12700">
            <a:solidFill>
              <a:srgbClr val="1B3A7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806440" y="254203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Fare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178040" y="2542032"/>
            <a:ext cx="1097280" cy="502920"/>
          </a:xfrm>
          <a:prstGeom prst="rect">
            <a:avLst/>
          </a:prstGeom>
          <a:solidFill>
            <a:srgbClr val="0B1F44"/>
          </a:solidFill>
          <a:ln w="12700">
            <a:solidFill>
              <a:srgbClr val="0B1F4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178040" y="254203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Payment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 flipH="1">
            <a:off x="2788920" y="2793492"/>
            <a:ext cx="274320" cy="0"/>
          </a:xfrm>
          <a:prstGeom prst="line">
            <a:avLst/>
          </a:prstGeom>
          <a:noFill/>
          <a:ln w="19050">
            <a:solidFill>
              <a:srgbClr val="2F80ED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H="1">
            <a:off x="4160520" y="2793492"/>
            <a:ext cx="274320" cy="0"/>
          </a:xfrm>
          <a:prstGeom prst="line">
            <a:avLst/>
          </a:prstGeom>
          <a:noFill/>
          <a:ln w="19050">
            <a:solidFill>
              <a:srgbClr val="2F80ED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903720" y="2793492"/>
            <a:ext cx="274320" cy="0"/>
          </a:xfrm>
          <a:prstGeom prst="line">
            <a:avLst/>
          </a:prstGeom>
          <a:noFill/>
          <a:ln w="19050">
            <a:solidFill>
              <a:srgbClr val="2F80ED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 flipV="1">
            <a:off x="6355080" y="2395728"/>
            <a:ext cx="0" cy="146304"/>
          </a:xfrm>
          <a:prstGeom prst="line">
            <a:avLst/>
          </a:prstGeom>
          <a:noFill/>
          <a:ln w="19050">
            <a:solidFill>
              <a:srgbClr val="1E8E5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H="1">
            <a:off x="3611880" y="2395728"/>
            <a:ext cx="2743200" cy="0"/>
          </a:xfrm>
          <a:prstGeom prst="line">
            <a:avLst/>
          </a:prstGeom>
          <a:noFill/>
          <a:ln w="19050">
            <a:solidFill>
              <a:srgbClr val="1E8E5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11880" y="2395728"/>
            <a:ext cx="0" cy="146304"/>
          </a:xfrm>
          <a:prstGeom prst="line">
            <a:avLst/>
          </a:prstGeom>
          <a:noFill/>
          <a:ln w="19050">
            <a:solidFill>
              <a:srgbClr val="1E8E5A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 flipH="1">
            <a:off x="3886200" y="1719072"/>
            <a:ext cx="822960" cy="822960"/>
          </a:xfrm>
          <a:prstGeom prst="line">
            <a:avLst/>
          </a:prstGeom>
          <a:noFill/>
          <a:ln w="19050">
            <a:solidFill>
              <a:srgbClr val="2F80ED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3063240" y="3867912"/>
            <a:ext cx="1097280" cy="502920"/>
          </a:xfrm>
          <a:prstGeom prst="rect">
            <a:avLst/>
          </a:prstGeom>
          <a:solidFill>
            <a:srgbClr val="0B1F44"/>
          </a:solidFill>
          <a:ln w="12700">
            <a:solidFill>
              <a:srgbClr val="0B1F44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063240" y="386791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Ticket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434840" y="3867912"/>
            <a:ext cx="1097280" cy="502920"/>
          </a:xfrm>
          <a:prstGeom prst="rect">
            <a:avLst/>
          </a:prstGeom>
          <a:solidFill>
            <a:srgbClr val="0B1F44"/>
          </a:solidFill>
          <a:ln w="12700">
            <a:solidFill>
              <a:srgbClr val="0B1F44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434840" y="386791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Check-in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806440" y="3867912"/>
            <a:ext cx="1097280" cy="502920"/>
          </a:xfrm>
          <a:prstGeom prst="rect">
            <a:avLst/>
          </a:prstGeom>
          <a:solidFill>
            <a:srgbClr val="0B1F44"/>
          </a:solidFill>
          <a:ln w="12700">
            <a:solidFill>
              <a:srgbClr val="0B1F44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806440" y="386791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Baggage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611880" y="3044952"/>
            <a:ext cx="0" cy="822960"/>
          </a:xfrm>
          <a:prstGeom prst="line">
            <a:avLst/>
          </a:prstGeom>
          <a:noFill/>
          <a:ln w="19050">
            <a:solidFill>
              <a:srgbClr val="2F80ED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4160520" y="4119372"/>
            <a:ext cx="274320" cy="0"/>
          </a:xfrm>
          <a:prstGeom prst="line">
            <a:avLst/>
          </a:prstGeom>
          <a:noFill/>
          <a:ln w="19050">
            <a:solidFill>
              <a:srgbClr val="2F80ED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5532120" y="4119372"/>
            <a:ext cx="274320" cy="0"/>
          </a:xfrm>
          <a:prstGeom prst="line">
            <a:avLst/>
          </a:prstGeom>
          <a:noFill/>
          <a:ln w="19050">
            <a:solidFill>
              <a:srgbClr val="2F80ED"/>
            </a:solidFill>
            <a:prstDash val="solid"/>
            <a:tailEnd type="triangle"/>
          </a:ln>
        </p:spPr>
      </p:sp>
      <p:sp>
        <p:nvSpPr>
          <p:cNvPr id="50" name="Text 48"/>
          <p:cNvSpPr txBox="1"/>
          <p:nvPr/>
        </p:nvSpPr>
        <p:spPr>
          <a:xfrm>
            <a:off x="4526280" y="2286000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8E5A"/>
                </a:solidFill>
              </a:rPr>
              <a:t>Fare → Booking, Payment</a:t>
            </a:r>
            <a:endParaRPr lang="en-US" sz="850" dirty="0"/>
          </a:p>
        </p:txBody>
      </p:sp>
      <p:sp>
        <p:nvSpPr>
          <p:cNvPr id="51" name="Text 49"/>
          <p:cNvSpPr txBox="1"/>
          <p:nvPr/>
        </p:nvSpPr>
        <p:spPr>
          <a:xfrm>
            <a:off x="7086600" y="37033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5"/>
                </a:solidFill>
              </a:rPr>
              <a:t>Related entities link reservation activity with flight operations: every check-in and baggage record traces back to a ticket, booking and flight.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7375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B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554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F80ED"/>
                </a:solidFill>
              </a:rPr>
              <a:t>B · ER DIAGRAM &amp; SCHEMA · ~2 MIN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44"/>
                </a:solidFill>
              </a:rPr>
              <a:t>ER Diagram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816352" y="896112"/>
            <a:ext cx="5888736" cy="393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A"/>
            </a:solidFill>
            <a:prstDash val="solid"/>
          </a:ln>
        </p:spPr>
      </p:sp>
      <p:pic>
        <p:nvPicPr>
          <p:cNvPr id="5" name="Image 0" descr="/mnt/user-data/uploads/1791231610187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640" y="914400"/>
            <a:ext cx="5852160" cy="39014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914400"/>
            <a:ext cx="2148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F80ED"/>
                </a:solidFill>
              </a:rPr>
              <a:t>13 entities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A6B85"/>
                </a:solidFill>
              </a:rPr>
              <a:t>one table per entity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F80ED"/>
                </a:solidFill>
              </a:rPr>
              <a:t>Booking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A6B85"/>
                </a:solidFill>
              </a:rPr>
              <a:t>central entity linking passenger, flight and fare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F80ED"/>
                </a:solidFill>
              </a:rPr>
              <a:t>Cardinality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A6B85"/>
                </a:solidFill>
              </a:rPr>
              <a:t>1:N relationships; cancellation is optional (0..1)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F80ED"/>
                </a:solidFill>
              </a:rPr>
              <a:t>Keys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A6B85"/>
                </a:solidFill>
              </a:rPr>
              <a:t>PK and FK marked on every entity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7375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B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554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F80ED"/>
                </a:solidFill>
              </a:rPr>
              <a:t>B · RELATIONAL SCHEMA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44"/>
                </a:solidFill>
              </a:rPr>
              <a:t>Relational Schema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38912" y="896112"/>
            <a:ext cx="5888736" cy="393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A"/>
            </a:solidFill>
            <a:prstDash val="solid"/>
          </a:ln>
        </p:spPr>
      </p:sp>
      <p:pic>
        <p:nvPicPr>
          <p:cNvPr id="5" name="Image 0" descr="/mnt/user-data/uploads/1791231971949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5852160" cy="39014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0" y="9144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1F44"/>
                </a:solidFill>
              </a:rPr>
              <a:t>ER → Tables → FDs → 1NF → 2NF → 3NF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583680" y="1554480"/>
            <a:ext cx="2103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80ED"/>
                </a:solidFill>
              </a:rPr>
              <a:t>1NF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B1F44"/>
                </a:solidFill>
              </a:rPr>
              <a:t>atomic attributes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80ED"/>
                </a:solidFill>
              </a:rPr>
              <a:t>2NF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B1F44"/>
                </a:solidFill>
              </a:rPr>
              <a:t>no partial dependencies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E8E5A"/>
                </a:solidFill>
              </a:rPr>
              <a:t>3NF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B1F44"/>
                </a:solidFill>
              </a:rPr>
              <a:t>no transitive dependencies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B1F44"/>
                </a:solidFill>
              </a:rPr>
              <a:t>One table = one logical entity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B1F44"/>
                </a:solidFill>
              </a:rPr>
              <a:t>PKs identify records uniquely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B1F44"/>
                </a:solidFill>
              </a:rPr>
              <a:t>FKs maintain relationships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B1F44"/>
                </a:solidFill>
              </a:rPr>
              <a:t>UNIQUE and NOT NULL on key attributes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583680" y="39319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1F44"/>
                </a:solidFill>
              </a:rPr>
              <a:t>Normalized up to 3NF to reduce redundancy and improve consistency.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7375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B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554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F80ED"/>
                </a:solidFill>
              </a:rPr>
              <a:t>B · NORMALIZATION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44"/>
                </a:solidFill>
              </a:rPr>
              <a:t>How 3NF Applies to airline_reservation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42976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0175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Table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Why it is separated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PASSENGER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44"/>
                          </a:solidFill>
                        </a:rPr>
                        <a:t>Stores only passenger information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FLIGHT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44"/>
                          </a:solidFill>
                        </a:rPr>
                        <a:t>Stores flight-specific information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AIRCRAFT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44"/>
                          </a:solidFill>
                        </a:rPr>
                        <a:t>Stores aircraft details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AIRPORT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44"/>
                          </a:solidFill>
                        </a:rPr>
                        <a:t>Stores airport details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BOOKING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44"/>
                          </a:solidFill>
                        </a:rPr>
                        <a:t>Connects passenger with a flight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PAYMENT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44"/>
                          </a:solidFill>
                        </a:rPr>
                        <a:t>Stores payment information for a booking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TICKET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44"/>
                          </a:solidFill>
                        </a:rPr>
                        <a:t>Stores ticket and seat allocation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BAGGAGE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44"/>
                          </a:solidFill>
                        </a:rPr>
                        <a:t>Stores baggage details for a ticket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0" y="9601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A6B85"/>
                </a:solidFill>
              </a:rPr>
              <a:t>REMOVING A TRANSITIVE DEPENDENCY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029200" y="1234440"/>
            <a:ext cx="3657600" cy="868680"/>
          </a:xfrm>
          <a:prstGeom prst="rect">
            <a:avLst/>
          </a:prstGeom>
          <a:solidFill>
            <a:srgbClr val="F7F9FC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66360" y="129844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0392B"/>
                </a:solidFill>
              </a:rPr>
              <a:t>BEFORE NORMALIZATION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166360" y="15087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1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FLIGHT(flight_id, flight_number, aircraft_id, aircraft_model, aircraft_capacity)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029200" y="2194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</a:rPr>
              <a:t>aircraft_model and aircraft_capacity depend on aircraft_id, not directly on flight_id.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029200" y="2697480"/>
            <a:ext cx="3657600" cy="1005840"/>
          </a:xfrm>
          <a:prstGeom prst="rect">
            <a:avLst/>
          </a:prstGeom>
          <a:solidFill>
            <a:srgbClr val="F7F9FC"/>
          </a:solidFill>
          <a:ln w="15875">
            <a:solidFill>
              <a:srgbClr val="1E8E5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166360" y="276148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E8E5A"/>
                </a:solidFill>
              </a:rPr>
              <a:t>AFTER 3NF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5166360" y="29718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1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FLIGHT(flight_id, flight_number, aircraft_id, ...)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1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AIRCRAFT(aircraft_id, registration, model, capacity)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5029200" y="3840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8E5A"/>
                </a:solidFill>
              </a:rPr>
              <a:t>Result  </a:t>
            </a:r>
            <a:pPr indent="0" marL="0">
              <a:buNone/>
            </a:pPr>
            <a:r>
              <a:rPr lang="en-US" sz="1150" dirty="0">
                <a:solidFill>
                  <a:srgbClr val="0B1F44"/>
                </a:solidFill>
              </a:rPr>
              <a:t>Aircraft information is stored separately and referenced through aircraft_id, eliminating redundant data.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7375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B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554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F80ED"/>
                </a:solidFill>
              </a:rPr>
              <a:t>C · DATABASE &amp; QUERIES · ~2 MIN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44"/>
                </a:solidFill>
              </a:rPr>
              <a:t>Database Implementation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38912" y="941832"/>
            <a:ext cx="3328416" cy="2393899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A"/>
            </a:solidFill>
            <a:prstDash val="solid"/>
          </a:ln>
        </p:spPr>
      </p:sp>
      <p:pic>
        <p:nvPicPr>
          <p:cNvPr id="5" name="Image 0" descr="MySQL: airline_reservation · 13 tab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3291840" cy="235732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3363163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6B85"/>
                </a:solidFill>
              </a:rPr>
              <a:t>MySQL: airline_reservation · 13 tables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6118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aircraft · airport · baggage · booking · cancellation · checkin · fare · flight · passenger · payment · route · seat · ticket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023360" y="960120"/>
            <a:ext cx="1371600" cy="310896"/>
          </a:xfrm>
          <a:prstGeom prst="rect">
            <a:avLst/>
          </a:prstGeom>
          <a:solidFill>
            <a:srgbClr val="0B1F44"/>
          </a:solidFill>
          <a:ln w="12700">
            <a:solidFill>
              <a:srgbClr val="0B1F4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023360" y="9601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PRIMARY KEY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532120" y="96012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F44"/>
                </a:solidFill>
              </a:rPr>
              <a:t>unique record identification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023360" y="1325880"/>
            <a:ext cx="1371600" cy="310896"/>
          </a:xfrm>
          <a:prstGeom prst="rect">
            <a:avLst/>
          </a:prstGeom>
          <a:solidFill>
            <a:srgbClr val="0B1F44"/>
          </a:solidFill>
          <a:ln w="12700">
            <a:solidFill>
              <a:srgbClr val="0B1F4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023360" y="13258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FOREIGN KEY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5532120" y="132588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F44"/>
                </a:solidFill>
              </a:rPr>
              <a:t>referential integrity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023360" y="1691640"/>
            <a:ext cx="1371600" cy="31089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023360" y="16916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UNIQUE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5532120" y="169164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F44"/>
                </a:solidFill>
              </a:rPr>
              <a:t>prevents duplicate values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023360" y="2057400"/>
            <a:ext cx="1371600" cy="31089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023360" y="205740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NOT NULL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5532120" y="205740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F44"/>
                </a:solidFill>
              </a:rPr>
              <a:t>required information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023360" y="2423160"/>
            <a:ext cx="1371600" cy="31089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023360" y="24231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CHECK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5532120" y="242316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F44"/>
                </a:solidFill>
              </a:rPr>
              <a:t>valid values / ranges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023360" y="2788920"/>
            <a:ext cx="1371600" cy="31089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023360" y="2788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DEFAULT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5532120" y="278892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F44"/>
                </a:solidFill>
              </a:rPr>
              <a:t>sensible automatic values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4023360" y="32918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A6B85"/>
                </a:solidFill>
              </a:rPr>
              <a:t>BUSINESS RULES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4023360" y="3538728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B1F44"/>
                </a:solidFill>
              </a:rPr>
              <a:t>One seat per passenger per flight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B1F44"/>
                </a:solidFill>
              </a:rPr>
              <a:t>Aircraft capacity cannot be exceeded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B1F44"/>
                </a:solidFill>
              </a:rPr>
              <a:t>Baggage weight cannot be negative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B1F44"/>
                </a:solidFill>
              </a:rPr>
              <a:t>Check-in requires a confirmed booking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B1F44"/>
                </a:solidFill>
              </a:rPr>
              <a:t>Cancellation / refund rules are enforced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7375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B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554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F80ED"/>
                </a:solidFill>
              </a:rPr>
              <a:t>C · SELECT, JOIN, AGGREGATES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44"/>
                </a:solidFill>
              </a:rPr>
              <a:t>SQL: From Data to Decisions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F80ED"/>
                </a:solidFill>
              </a:rPr>
              <a:t>JOIN · passenger + booking + flight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61288"/>
            <a:ext cx="5029200" cy="868680"/>
          </a:xfrm>
          <a:prstGeom prst="rect">
            <a:avLst/>
          </a:prstGeom>
          <a:solidFill>
            <a:srgbClr val="0B1F44"/>
          </a:solidFill>
          <a:ln w="12700">
            <a:solidFill>
              <a:srgbClr val="0B1F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161288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p.name, f.flight_id, b.booking_status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booking 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passenger p ON b.passenger_id = p.passenger_id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flight f ON b.flight_id = f.flight_id;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0312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F80ED"/>
                </a:solidFill>
              </a:rPr>
              <a:t>AGGREGATE + GROUP BY · bookings per flight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304288"/>
            <a:ext cx="5029200" cy="566928"/>
          </a:xfrm>
          <a:prstGeom prst="rect">
            <a:avLst/>
          </a:prstGeom>
          <a:solidFill>
            <a:srgbClr val="0B1F44"/>
          </a:solidFill>
          <a:ln w="12700">
            <a:solidFill>
              <a:srgbClr val="0B1F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30428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flight_id, COUNT(*) AS bookings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booking GROUP BY flight_id;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9260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F80ED"/>
                </a:solidFill>
              </a:rPr>
              <a:t>NESTED QUERY · flights above a booking threshold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127248"/>
            <a:ext cx="5029200" cy="731520"/>
          </a:xfrm>
          <a:prstGeom prst="rect">
            <a:avLst/>
          </a:prstGeom>
          <a:solidFill>
            <a:srgbClr val="0B1F44"/>
          </a:solidFill>
          <a:ln w="12700">
            <a:solidFill>
              <a:srgbClr val="0B1F4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312724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flight WHERE flight_id IN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flight_id FROM booking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 BY flight_id HAVING COUNT(*) &gt; 2);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1148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85"/>
                </a:solidFill>
              </a:rPr>
              <a:t>Illustrative patterns; replace with your exact queries before presenting.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9601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F80ED"/>
                </a:solidFill>
              </a:rPr>
              <a:t>FUNCTIONS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52160" y="1207008"/>
            <a:ext cx="868680" cy="329184"/>
          </a:xfrm>
          <a:prstGeom prst="rect">
            <a:avLst/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52160" y="120700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1207008"/>
            <a:ext cx="868680" cy="329184"/>
          </a:xfrm>
          <a:prstGeom prst="rect">
            <a:avLst/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12280" y="120700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0" y="1207008"/>
            <a:ext cx="868680" cy="329184"/>
          </a:xfrm>
          <a:prstGeom prst="rect">
            <a:avLst/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0" y="120700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AVG()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852160" y="17830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F80ED"/>
                </a:solidFill>
              </a:rPr>
              <a:t>REPORTS (via VIEWS)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852160" y="205740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B1F44"/>
                </a:solidFill>
              </a:rPr>
              <a:t>Flight manifest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B1F44"/>
                </a:solidFill>
              </a:rPr>
              <a:t>Flight occupancy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B1F44"/>
                </a:solidFill>
              </a:rPr>
              <a:t>Route demand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B1F44"/>
                </a:solidFill>
              </a:rPr>
              <a:t>Baggage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B1F44"/>
                </a:solidFill>
              </a:rPr>
              <a:t>Cancellations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B1F44"/>
                </a:solidFill>
              </a:rPr>
              <a:t>On-time status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B1F44"/>
                </a:solidFill>
              </a:rPr>
              <a:t>Revenue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4"/>
                </a:solidFill>
              </a:rPr>
              <a:t>SQL is used not only for storage, but for operational reporting.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7375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B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554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F80ED"/>
                </a:solidFill>
              </a:rPr>
              <a:t>D · USER INTERFACE DEMO · ~3 MIN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44"/>
                </a:solidFill>
              </a:rPr>
              <a:t>SkyOps: Connected User Interface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38912" y="896112"/>
            <a:ext cx="2505456" cy="1643177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A"/>
            </a:solidFill>
            <a:prstDash val="solid"/>
          </a:ln>
        </p:spPr>
      </p:sp>
      <p:pic>
        <p:nvPicPr>
          <p:cNvPr id="5" name="Image 0" descr="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2468880" cy="160660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566721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6B85"/>
                </a:solidFill>
              </a:rPr>
              <a:t>Dashboard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319272" y="896112"/>
            <a:ext cx="2505456" cy="1643177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A"/>
            </a:solidFill>
            <a:prstDash val="solid"/>
          </a:ln>
        </p:spPr>
      </p:sp>
      <p:pic>
        <p:nvPicPr>
          <p:cNvPr id="8" name="Image 1" descr="Flight 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914400"/>
            <a:ext cx="2468880" cy="160660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337560" y="2566721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6B85"/>
                </a:solidFill>
              </a:rPr>
              <a:t>Flight Search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6199632" y="896112"/>
            <a:ext cx="2505456" cy="1643177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A"/>
            </a:solidFill>
            <a:prstDash val="solid"/>
          </a:ln>
        </p:spPr>
      </p:sp>
      <p:pic>
        <p:nvPicPr>
          <p:cNvPr id="11" name="Image 2" descr="Passenger Managemen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914400"/>
            <a:ext cx="2468880" cy="1606601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217920" y="2566721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6B85"/>
                </a:solidFill>
              </a:rPr>
              <a:t>Passenger Management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438912" y="2862072"/>
            <a:ext cx="2505456" cy="1643177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A"/>
            </a:solidFill>
            <a:prstDash val="solid"/>
          </a:ln>
        </p:spPr>
      </p:sp>
      <p:pic>
        <p:nvPicPr>
          <p:cNvPr id="14" name="Image 3" descr="Online Check-i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880360"/>
            <a:ext cx="2468880" cy="1606601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57200" y="4532681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6B85"/>
                </a:solidFill>
              </a:rPr>
              <a:t>Online Check-in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3319272" y="2862072"/>
            <a:ext cx="2505456" cy="1643177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A"/>
            </a:solidFill>
            <a:prstDash val="solid"/>
          </a:ln>
        </p:spPr>
      </p:sp>
      <p:pic>
        <p:nvPicPr>
          <p:cNvPr id="17" name="Image 4" descr="Baggage Entr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2880360"/>
            <a:ext cx="2468880" cy="1606601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3337560" y="4532681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6B85"/>
                </a:solidFill>
              </a:rPr>
              <a:t>Baggage Entry</a:t>
            </a:r>
            <a:endParaRPr lang="en-US" sz="1000" dirty="0"/>
          </a:p>
        </p:txBody>
      </p:sp>
      <p:sp>
        <p:nvSpPr>
          <p:cNvPr id="19" name="Shape 12"/>
          <p:cNvSpPr/>
          <p:nvPr/>
        </p:nvSpPr>
        <p:spPr>
          <a:xfrm>
            <a:off x="6217920" y="2880360"/>
            <a:ext cx="2468880" cy="1606601"/>
          </a:xfrm>
          <a:prstGeom prst="rect">
            <a:avLst/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6355080" y="292608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4"/>
                </a:solidFill>
              </a:rPr>
              <a:t>Flask UI ↔ MySQL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1F44"/>
                </a:solidFill>
              </a:rPr>
              <a:t>Every screen reads from or writes to the airline_reservation database.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7375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B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554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F80ED"/>
                </a:solidFill>
              </a:rPr>
              <a:t>D · LIVE DEMONSTRATION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44"/>
                </a:solidFill>
              </a:rPr>
              <a:t>Database ↔ Application: Live Demonstration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828800" cy="36576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914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</a:rPr>
              <a:t>USER ACTION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86000" y="1097280"/>
            <a:ext cx="274320" cy="0"/>
          </a:xfrm>
          <a:prstGeom prst="line">
            <a:avLst/>
          </a:prstGeom>
          <a:noFill/>
          <a:ln w="19050">
            <a:solidFill>
              <a:srgbClr val="5A6B85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560320" y="914400"/>
            <a:ext cx="1828800" cy="36576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914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</a:rPr>
              <a:t>FLASK APPLICATION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1097280"/>
            <a:ext cx="274320" cy="0"/>
          </a:xfrm>
          <a:prstGeom prst="line">
            <a:avLst/>
          </a:prstGeom>
          <a:noFill/>
          <a:ln w="19050">
            <a:solidFill>
              <a:srgbClr val="5A6B8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663440" y="914400"/>
            <a:ext cx="1828800" cy="365760"/>
          </a:xfrm>
          <a:prstGeom prst="rect">
            <a:avLst/>
          </a:prstGeom>
          <a:solidFill>
            <a:srgbClr val="0B1F44"/>
          </a:solidFill>
          <a:ln w="12700">
            <a:solidFill>
              <a:srgbClr val="0B1F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914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</a:rPr>
              <a:t>MYSQL DATABASE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92240" y="1097280"/>
            <a:ext cx="274320" cy="0"/>
          </a:xfrm>
          <a:prstGeom prst="line">
            <a:avLst/>
          </a:prstGeom>
          <a:noFill/>
          <a:ln w="19050">
            <a:solidFill>
              <a:srgbClr val="5A6B8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766560" y="914400"/>
            <a:ext cx="1828800" cy="365760"/>
          </a:xfrm>
          <a:prstGeom prst="rect">
            <a:avLst/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0" y="914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</a:rPr>
              <a:t>UPDATED RECORD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57784" y="1490472"/>
            <a:ext cx="2446934" cy="1762049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A"/>
            </a:solidFill>
            <a:prstDash val="solid"/>
          </a:ln>
        </p:spPr>
      </p:sp>
      <p:pic>
        <p:nvPicPr>
          <p:cNvPr id="16" name="Image 0" descr="1 · MySQL database / table struc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508760"/>
            <a:ext cx="2410358" cy="1725473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76072" y="3279953"/>
            <a:ext cx="24103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6B85"/>
                </a:solidFill>
              </a:rPr>
              <a:t>1 · MySQL database / table structure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27832" y="1490472"/>
            <a:ext cx="2688336" cy="1762049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A"/>
            </a:solidFill>
            <a:prstDash val="solid"/>
          </a:ln>
        </p:spPr>
      </p:sp>
      <p:pic>
        <p:nvPicPr>
          <p:cNvPr id="19" name="Image 1" descr="2 · UI operation: Passenger Manageme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508760"/>
            <a:ext cx="2651760" cy="1725473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3246120" y="3279953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6B85"/>
                </a:solidFill>
              </a:rPr>
              <a:t>2 · UI operation: Passenger Management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035040" y="1508760"/>
            <a:ext cx="2651760" cy="1725473"/>
          </a:xfrm>
          <a:prstGeom prst="rect">
            <a:avLst/>
          </a:prstGeom>
          <a:solidFill>
            <a:srgbClr val="F7F9FC"/>
          </a:solidFill>
          <a:ln w="15875">
            <a:solidFill>
              <a:srgbClr val="2F80ED"/>
            </a:solidFill>
            <a:prstDash val="dash"/>
          </a:ln>
        </p:spPr>
      </p:sp>
      <p:sp>
        <p:nvSpPr>
          <p:cNvPr id="22" name="Text 18"/>
          <p:cNvSpPr txBox="1"/>
          <p:nvPr/>
        </p:nvSpPr>
        <p:spPr>
          <a:xfrm>
            <a:off x="6126480" y="1508760"/>
            <a:ext cx="2468880" cy="1725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80ED"/>
                </a:solidFill>
              </a:rPr>
              <a:t>[ INSERT SELECT * FROM passenger; OUTPUT ]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6B85"/>
                </a:solidFill>
              </a:rPr>
              <a:t>Capture after the live insert/delete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6035040" y="328269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6B85"/>
                </a:solidFill>
              </a:rPr>
              <a:t>3 · Updated database record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57200" y="3794760"/>
            <a:ext cx="1965960" cy="777240"/>
          </a:xfrm>
          <a:prstGeom prst="rect">
            <a:avLst/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57200" y="3794760"/>
            <a:ext cx="54864" cy="777240"/>
          </a:xfrm>
          <a:prstGeom prst="rect">
            <a:avLst/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40080" y="37947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</a:rPr>
              <a:t>Add passenger / booking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2560320" y="3794760"/>
            <a:ext cx="1965960" cy="777240"/>
          </a:xfrm>
          <a:prstGeom prst="rect">
            <a:avLst/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2560320" y="3794760"/>
            <a:ext cx="54864" cy="777240"/>
          </a:xfrm>
          <a:prstGeom prst="rect">
            <a:avLst/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2743200" y="37947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</a:rPr>
              <a:t>View records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4663440" y="3794760"/>
            <a:ext cx="1965960" cy="777240"/>
          </a:xfrm>
          <a:prstGeom prst="rect">
            <a:avLst/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4663440" y="3794760"/>
            <a:ext cx="54864" cy="777240"/>
          </a:xfrm>
          <a:prstGeom prst="rect">
            <a:avLst/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4846320" y="37947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</a:rPr>
              <a:t>Modify information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6766560" y="3794760"/>
            <a:ext cx="1965960" cy="777240"/>
          </a:xfrm>
          <a:prstGeom prst="rect">
            <a:avLst/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6766560" y="3794760"/>
            <a:ext cx="54864" cy="777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6949440" y="37947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</a:rPr>
              <a:t>Remove permitted records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7375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B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F80E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7FB2F0"/>
                </a:solidFill>
              </a:rPr>
              <a:t>OUTCOME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Outcome &amp; Key Takeaways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89888"/>
            <a:ext cx="109728" cy="109728"/>
          </a:xfrm>
          <a:prstGeom prst="ellipse">
            <a:avLst/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2801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Designed a relational airline database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801368"/>
            <a:ext cx="109728" cy="109728"/>
          </a:xfrm>
          <a:prstGeom prst="ellipse">
            <a:avLst/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69164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Connected 13 major entities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212848"/>
            <a:ext cx="109728" cy="109728"/>
          </a:xfrm>
          <a:prstGeom prst="ellipse">
            <a:avLst/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10312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Converted the ER model to a relational schema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624328"/>
            <a:ext cx="109728" cy="109728"/>
          </a:xfrm>
          <a:prstGeom prst="ellipse">
            <a:avLst/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51460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Normalized up to 3NF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035808"/>
            <a:ext cx="109728" cy="109728"/>
          </a:xfrm>
          <a:prstGeom prst="ellipse">
            <a:avLst/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292608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Applied integrity constraints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1389888"/>
            <a:ext cx="109728" cy="109728"/>
          </a:xfrm>
          <a:prstGeom prst="ellipse">
            <a:avLst/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92040" y="12801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Populated tables with realistic data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1801368"/>
            <a:ext cx="109728" cy="109728"/>
          </a:xfrm>
          <a:prstGeom prst="ellipse">
            <a:avLst/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92040" y="169164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Implemented joins, aggregates, nested queries and views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2212848"/>
            <a:ext cx="109728" cy="109728"/>
          </a:xfrm>
          <a:prstGeom prst="ellipse">
            <a:avLst/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92040" y="210312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Connected MySQL with the SkyOps UI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63440" y="2624328"/>
            <a:ext cx="109728" cy="109728"/>
          </a:xfrm>
          <a:prstGeom prst="ellipse">
            <a:avLst/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92040" y="251460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Search, booking, passengers, check-in, baggage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63440" y="3035808"/>
            <a:ext cx="109728" cy="109728"/>
          </a:xfrm>
          <a:prstGeom prst="ellipse">
            <a:avLst/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92040" y="292608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Demonstrated CRUD and database synchronization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3474720"/>
            <a:ext cx="8046720" cy="640080"/>
          </a:xfrm>
          <a:prstGeom prst="rect">
            <a:avLst/>
          </a:prstGeom>
          <a:solidFill>
            <a:srgbClr val="1B3A73"/>
          </a:solidFill>
          <a:ln w="12700">
            <a:solidFill>
              <a:srgbClr val="1B3A7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34747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</a:rPr>
              <a:t>“SkyOps connects database integrity with real airline operations through a single integrated system.”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343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B2F0"/>
                </a:solidFill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yOps">
  <a:themeElements>
    <a:clrScheme name="SkyOps">
      <a:dk1>
        <a:srgbClr val="1A2540"/>
      </a:dk1>
      <a:lt1>
        <a:srgbClr val="FFFFFF"/>
      </a:lt1>
      <a:dk2>
        <a:srgbClr val="0B1F44"/>
      </a:dk2>
      <a:lt2>
        <a:srgbClr val="F7F9FC"/>
      </a:lt2>
      <a:accent1>
        <a:srgbClr val="2F80ED"/>
      </a:accent1>
      <a:accent2>
        <a:srgbClr val="7FB2F0"/>
      </a:accent2>
      <a:accent3>
        <a:srgbClr val="E8F1FB"/>
      </a:accent3>
      <a:accent4>
        <a:srgbClr val="1E8E5A"/>
      </a:accent4>
      <a:accent5>
        <a:srgbClr val="C0392B"/>
      </a:accent5>
      <a:accent6>
        <a:srgbClr val="5A6B85"/>
      </a:accent6>
      <a:hlink>
        <a:srgbClr val="2F80ED"/>
      </a:hlink>
      <a:folHlink>
        <a:srgbClr val="5A6B85"/>
      </a:folHlink>
    </a:clrScheme>
    <a:fontScheme name="SkyOp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SkyOps DBMS Final Presentation</dc:title>
  <dc:subject>PptxGenJS Presentation</dc:subject>
  <dc:creator>PptxGenJS</dc:creator>
  <cp:lastModifiedBy>PptxGenJS</cp:lastModifiedBy>
  <cp:revision>1</cp:revision>
  <dcterms:created xsi:type="dcterms:W3CDTF">2026-10-05T20:39:43Z</dcterms:created>
  <dcterms:modified xsi:type="dcterms:W3CDTF">2026-10-05T20:39:43Z</dcterms:modified>
</cp:coreProperties>
</file>